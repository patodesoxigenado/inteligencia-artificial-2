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INTELIGÊNCIA ARTIFICIAL 2  ·  ETAPA 4  ·  VISÃO COMPUTACIONAL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0F172A"/>
                </a:solidFill>
                <a:latin typeface="Segoe UI Semibold"/>
              </a:rPr>
              <a:t>Prever a pose de uma pessoa</a:t>
            </a: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0F172A"/>
                </a:solidFill>
                <a:latin typeface="Segoe UI Semibold"/>
              </a:rPr>
              <a:t>enquanto a câmera a esconde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LSTM · GRU · EKF · Transformer temporal · T-GNN — comparados no mesmo protocolo, treinados com vídeo real e vídeo sintético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7889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971800"/>
            <a:ext cx="3566160" cy="11704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971800"/>
            <a:ext cx="50292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" y="3118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Segoe UI Semibold"/>
              </a:rPr>
              <a:t>0.121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75304"/>
            <a:ext cx="318211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ERRO DE POSE A 0,5 s  (LSTM, o melhor)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59352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em alturas do corpo — 1,0 = a pessoa de lado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2971800"/>
            <a:ext cx="3566160" cy="11704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52544" y="2971800"/>
            <a:ext cx="50292" cy="11704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0288" y="3118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A34A"/>
                </a:solidFill>
                <a:latin typeface="Segoe UI Semibold"/>
              </a:rPr>
              <a:t>−18%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575304"/>
            <a:ext cx="318211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MELHORIA SOBRE MOVIMENTO CONSTANTE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959352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base sem nenhum modelo de aprendizado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71800"/>
            <a:ext cx="3566160" cy="11704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38160" y="2971800"/>
            <a:ext cx="50292" cy="11704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75904" y="3118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97316"/>
                </a:solidFill>
                <a:latin typeface="Segoe UI Semibold"/>
              </a:rPr>
              <a:t>1.281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575304"/>
            <a:ext cx="318211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AMOSTRAS (TREINO)  ·  VÍDEO REAL + SINTÉTICO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959352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24 cenas sintéticas + 23 s de vídeo gravado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15968"/>
            <a:ext cx="11064240" cy="18836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59536" y="446227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563EB"/>
                </a:solidFill>
                <a:latin typeface="Segoe UI"/>
              </a:rPr>
              <a:t>O QUE A COMPARAÇÃO MOSTRA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480974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33856" y="4745736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As redes vencem — e por pouco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5020056"/>
            <a:ext cx="4709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LSTM e Transformer ficam empatados (~3%). Com 1,3 mil amostras, o volume de dados, não a arquitetura, é o gargalo.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" y="548640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33856" y="5422392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O EKF impressiona sem treinar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5696712"/>
            <a:ext cx="4709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O filtro de Kalman chega perto das redes: o estado (posição, velocidade, escala) já é uma boa hipótese temporal.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3368" y="480974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647688" y="4745736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O modelo clássico da Etapa 3 fica atrás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5020056"/>
            <a:ext cx="4617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O Random Forest erra 2,7× mais que o LSTM a 0,5 s: não há sequência nem noção de forma do corpo.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73368" y="548640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647688" y="5422392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Sob oclusão, a vantagem encolhe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5696712"/>
            <a:ext cx="4617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O erro sobe ~20% para todos: prever a pose escondida é o problema realmente difícil.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327648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Teste: 498 amostras · 25 quadros de entrada (1 s) → 50 quadros de saída (2 s) · erro em unidades de altura do corpo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Um protocolo, cinco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4748B"/>
                </a:solidFill>
                <a:latin typeface="Segoe UI"/>
              </a:rPr>
              <a:t>O que muda entre os modelos é só a arquitetura — entrada, saída, divisão e métrica são idênticos.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2E8F0"/>
                </a:solidFill>
                <a:latin typeface="Segoe U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2084831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2084831" cy="40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17190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58568"/>
            <a:ext cx="171907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Vídeo real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+ 24 cenas sintéticas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5" y="214884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E2E8F0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79" y="1783080"/>
            <a:ext cx="2084831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926079" y="1783080"/>
            <a:ext cx="2084831" cy="40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59" y="1965960"/>
            <a:ext cx="17190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563EB"/>
                </a:solidFill>
                <a:latin typeface="Segoe UI"/>
              </a:rPr>
              <a:t>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59" y="2258568"/>
            <a:ext cx="171907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MediaPipe (real)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+ GT absoluto (sintético)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6" y="214884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E2E8F0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85230" y="1783080"/>
            <a:ext cx="2084831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85230" y="1783080"/>
            <a:ext cx="2084831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8110" y="1965960"/>
            <a:ext cx="17190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C3AED"/>
                </a:solidFill>
                <a:latin typeface="Segoe UI"/>
              </a:rPr>
              <a:t>JANELA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0" y="2258568"/>
            <a:ext cx="171907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1 s de entrada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→ 2 s de saída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7" y="214884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E2E8F0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44381" y="1783080"/>
            <a:ext cx="2084831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644381" y="1783080"/>
            <a:ext cx="2084831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1" y="1965960"/>
            <a:ext cx="17190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97316"/>
                </a:solidFill>
                <a:latin typeface="Segoe UI"/>
              </a:rPr>
              <a:t>MODELOS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1" y="2258568"/>
            <a:ext cx="171907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LSTM · GRU · EKF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Transformer · T-GNN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88" y="214884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E2E8F0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03532" y="1783080"/>
            <a:ext cx="2084831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0003532" y="1783080"/>
            <a:ext cx="2084831" cy="40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86412" y="1965960"/>
            <a:ext cx="171907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A34A"/>
                </a:solidFill>
                <a:latin typeface="Segoe UI"/>
              </a:rPr>
              <a:t>MÉTRICA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6412" y="2258568"/>
            <a:ext cx="171907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MAE por horizonte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erro sob oclusão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310128"/>
            <a:ext cx="5440680" cy="1133856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66928" y="3310128"/>
            <a:ext cx="50292" cy="11338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4672" y="3456432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SEM VAZAMENTO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3749040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As 24 cenas sintéticas são divididas por CENA (uma cena inteira vai para um conjunto só) e o vídeo real é dividido no TEMPO (60/20/20).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3310128"/>
            <a:ext cx="5440680" cy="1133856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208776" y="3310128"/>
            <a:ext cx="50292" cy="113385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46520" y="3456432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C3AED"/>
                </a:solidFill>
                <a:latin typeface="Segoe UI"/>
              </a:rPr>
              <a:t>RESIDUAL SOBRE A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749040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Todos os modelos preveem a correção sobre o movimento constante — a mesma ideia do "modo residual" da Etapa 3.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608576"/>
            <a:ext cx="5440680" cy="1133856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66928" y="4608576"/>
            <a:ext cx="50292" cy="113385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04672" y="4754880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TREINO SEM OVERFIT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5047488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Loss Huber + early stopping: o melhor ponto cai na época 8–17 e a validação só piora depois disso.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08776" y="4608576"/>
            <a:ext cx="5440680" cy="1133856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208776" y="4608576"/>
            <a:ext cx="50292" cy="11338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46520" y="4754880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AJUSTE HONESTO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047488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Os parâmetros do EKF foram calibrados no conjunto de VALIDAÇÃO; o teste foi usado só para a comparação final.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6327648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 entrada é sempre a pose OBSERVADA (com a máscara de visibilidade por articulação); a saída é a pose futura das 13 articulações.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O resultado: quem acerta mais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4748B"/>
                </a:solidFill>
                <a:latin typeface="Segoe UI"/>
              </a:rPr>
              <a:t>Erro médio da pose (MAE) no conjunto de teste, em alturas do corpo — 1,0 = a pessoa inteira de lado.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2E8F0"/>
                </a:solidFill>
                <a:latin typeface="Segoe UI"/>
              </a:rPr>
              <a:t>03</a:t>
            </a:r>
          </a:p>
        </p:txBody>
      </p:sp>
      <p:pic>
        <p:nvPicPr>
          <p:cNvPr id="7" name="Picture 6" descr="erro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5576668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56832" y="1691640"/>
            <a:ext cx="4965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4748B"/>
                </a:solidFill>
                <a:latin typeface="Segoe UI"/>
              </a:rPr>
              <a:t>ERRO POR HORIZONTE DE PREVISÃO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6832" y="2020824"/>
            <a:ext cx="4965192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1536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4" y="210312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0,5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6024" y="210312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1,0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9024" y="210312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2,0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6832" y="2404872"/>
            <a:ext cx="4965192" cy="384048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766560" y="25237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86016" y="2496312"/>
            <a:ext cx="1261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LSTM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496312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0.121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6024" y="2496312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0.160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2496312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0.307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6832" y="2770632"/>
            <a:ext cx="4965192" cy="127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6560" y="290779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86016" y="2880360"/>
            <a:ext cx="1261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Transformer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88036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0.125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88036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0.160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9024" y="288036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0.306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6832" y="3154680"/>
            <a:ext cx="4965192" cy="127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66560" y="32918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86016" y="3264408"/>
            <a:ext cx="1261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T-GNN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3264408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0.129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6024" y="3264408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0.165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9024" y="3264408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0.317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6832" y="3538728"/>
            <a:ext cx="4965192" cy="127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66560" y="36758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86016" y="3648456"/>
            <a:ext cx="1261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GRU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3648456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0.129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3648456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0.165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9024" y="3648456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0.313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56832" y="3922776"/>
            <a:ext cx="4965192" cy="127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66560" y="405993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986016" y="4032504"/>
            <a:ext cx="1261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EKF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4032504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0.166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4032504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0.206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9024" y="4032504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0.396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56832" y="4306824"/>
            <a:ext cx="4965192" cy="127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766560" y="44439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986016" y="4416552"/>
            <a:ext cx="1261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Mov. constante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3024" y="4416552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0.149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36024" y="4416552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0.175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79024" y="4416552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0.326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56832" y="4690872"/>
            <a:ext cx="4965192" cy="127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766560" y="48280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986016" y="4800600"/>
            <a:ext cx="1261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Random Forest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480060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0.332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36024" y="480060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0.201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9024" y="4800600"/>
            <a:ext cx="1143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0.413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502920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86384" y="5157216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6A34A"/>
                </a:solidFill>
                <a:latin typeface="Segoe UI Semibold"/>
              </a:rPr>
              <a:t>−18%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4248" y="523036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LSTM vs. movimento constante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a 0,5 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52544" y="502920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4572000" y="5157216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563EB"/>
                </a:solidFill>
                <a:latin typeface="Segoe UI Semibold"/>
              </a:rPr>
              <a:t>0.307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9864" y="523036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melhor erro a 2,0 s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(Transformer: 0.306)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502920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357616" y="5157216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C2626"/>
                </a:solidFill>
                <a:latin typeface="Segoe UI Semibold"/>
              </a:rPr>
              <a:t>2.7×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523036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erro do Random Forest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em relação ao LSTM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6327648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Base de movimento constante (0,149) e EKF (0,166) também aparecem: o EKF não é treinado e ainda assim se aproxima das redes.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O caso difícil: a pessoa está escondida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4748B"/>
                </a:solidFill>
                <a:latin typeface="Segoe UI"/>
              </a:rPr>
              <a:t>O erro sobe ~20% para todos os modelos — prever a pose oculta é o problema de verdade.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2E8F0"/>
                </a:solidFill>
                <a:latin typeface="Segoe UI"/>
              </a:rPr>
              <a:t>04</a:t>
            </a:r>
          </a:p>
        </p:txBody>
      </p:sp>
      <p:pic>
        <p:nvPicPr>
          <p:cNvPr id="7" name="Picture 6" descr="erro_ocl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5077265" cy="2788920"/>
          </a:xfrm>
          <a:prstGeom prst="rect">
            <a:avLst/>
          </a:prstGeom>
        </p:spPr>
      </p:pic>
      <p:pic>
        <p:nvPicPr>
          <p:cNvPr id="8" name="Picture 7" descr="erro_cur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37360"/>
            <a:ext cx="5165887" cy="2788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800600"/>
            <a:ext cx="3566160" cy="120700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4800600"/>
            <a:ext cx="356616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498348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erro sobe para todo mundo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312664"/>
            <a:ext cx="3154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Sob oclusão, o MAE a 2 s piora ~20% (0,30 → 0,38 no LSTM). A dificuldade é comum, não culpa do modelo.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4800600"/>
            <a:ext cx="3566160" cy="120700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52544" y="4800600"/>
            <a:ext cx="35661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0" y="498348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Random Forest desaba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12664"/>
            <a:ext cx="3154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Ele passa de 0,41 para 1,10: sem sequência e sem forma do corpo, ele não tem como reconstruir o que não vê.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800600"/>
            <a:ext cx="3566160" cy="120700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138160" y="4800600"/>
            <a:ext cx="3566160" cy="457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498348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O EKF sofre mais no longo prazo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5312664"/>
            <a:ext cx="3154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Sob oclusão a 2 s ele é o pior entre os modelos: a hipótese de velocidade constante é a que mais pesa quando a pessoa some.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27648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 verdade absoluta da pose escondida existe só no vídeo sintético — por isso essa é a métrica que mais vale no projeto.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Segoe UI Semibold"/>
              </a:rPr>
              <a:t>O que 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4748B"/>
                </a:solidFill>
                <a:latin typeface="Segoe UI"/>
              </a:rPr>
              <a:t>Três conclusões e três limites honestos.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2E8F0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CONCLUSÕES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8" y="2039112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LSTM e Transformer são o melhor par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40864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Diferença de ~3% entre eles. Com ~1,3 mil amostras, aumentar o modelo não resolve — falta dado.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821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3118104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O EKF é a melhor escolha se não há treino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19856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Kalman estendido com modelo de corpo chega a 0,166 a 0,5 s sem nenhum rótulo e 113 mil parâmetros.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6110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" y="4197096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Sequência vence features manuais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98848"/>
            <a:ext cx="4846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O RF da Etapa 3 erra 2,7× mais: prever a forma do corpo exige memória temporal.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66420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Segoe UI"/>
              </a:rPr>
              <a:t>LIMITES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0312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37960" y="2039112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O vídeo real tem 23 segundos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40864"/>
            <a:ext cx="5074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Dá 84 janelas no total: serve para validar o domínio, não para treinar do zero.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1821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37960" y="3118104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Sem GT sob oclusão no vídeo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19856"/>
            <a:ext cx="5074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A verdade da pose escondida só existe no sintético — a oclusão real não tem ground truth.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6110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37960" y="4197096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Câmera fixa, uma pessoa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98848"/>
            <a:ext cx="5074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Nada de múltiplas pessoas, nada de câmera em movimento: o modelo não foi testado nesses cenários.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047488"/>
            <a:ext cx="11064240" cy="106070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5047488"/>
            <a:ext cx="50292" cy="10607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1248" y="5193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Segoe UI"/>
              </a:rPr>
              <a:t>REPRODUZIR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48640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python gerar_dados_sinteticos.py  →  python extrair_pose.py  →  python montar_dataset.py  →  python treinar_modelos_seq.py  →  python avaliar_modelos_seq.py  →  python gerar_relatorio.py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327648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Branch feat/comparacao-temporal · relatório completo em resultados/RELATORIO_COMPARACAO.md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